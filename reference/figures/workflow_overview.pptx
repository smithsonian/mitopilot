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F365-07AB-261F-473B-0BD4509FE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5D8B38-229C-EDDE-9AF3-D125CACAC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20545-7588-920D-7468-10DEF75E6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95A4B-E0B2-984D-AE4F-72FF04A7AC22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03A81-60E5-FAF2-0F13-CB1596A75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D62FE-5457-415E-07D7-5245918C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A45F-1E0F-1D47-A293-093BAAD87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01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6C62E-6166-A3F0-6865-9AFE42FA6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DD379-C7B6-6CF0-33B1-1CF6FB3BB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62398-DCB2-57CF-387D-6D28C315A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95A4B-E0B2-984D-AE4F-72FF04A7AC22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43189-A467-1D55-99D6-19C1F9F20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698E3-6BED-02FF-D4C9-B87B0BFF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A45F-1E0F-1D47-A293-093BAAD87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273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0DE65-FFDE-5318-FB0E-5051395DD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EB5A9-46ED-3425-C480-E54C542CF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64582-2E86-A87E-71E1-B54B3A2B4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95A4B-E0B2-984D-AE4F-72FF04A7AC22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F6EF-288E-9A69-A7C2-B1499E2A9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039087-AA18-B53D-154F-90BAD886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A45F-1E0F-1D47-A293-093BAAD87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8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D37B3-5B9D-FE86-F71A-DB76A0FF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C527E-EC7D-AD9B-6C4A-929CCE0B27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1A450C-472F-4F1B-9DBF-C9001DA8B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7F292A-5F82-0C8D-8F57-C781B51B3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95A4B-E0B2-984D-AE4F-72FF04A7AC22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95CFA-1677-4F45-92D1-FF036553A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83CAB-3F18-F45D-1C69-76CF2DA80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A45F-1E0F-1D47-A293-093BAAD87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57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6CCAB-9320-8DC9-6AD6-CE8F65263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D8677-DAEF-9E22-4ACC-DC5B7FE64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838BEE-854F-FE42-1E89-01CB0FE35E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1EF0A3-44BC-1EE3-B2F3-0D60040737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5123E2-5B8E-10A4-ACB9-BC870BEFA0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238D69-5428-7241-1826-7607AC71E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95A4B-E0B2-984D-AE4F-72FF04A7AC22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410657-21AA-DD3D-A737-DC1B252FD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2C1511-2380-ECF4-D925-300AE99E9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A45F-1E0F-1D47-A293-093BAAD87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302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26DA4-EEF4-0007-8D8A-50F9F5812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F6A449-C765-4C0B-E47E-0173B351B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95A4B-E0B2-984D-AE4F-72FF04A7AC22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D8448-E7E4-672D-576F-1D1FD97C5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62C51-59FE-77CF-DC19-24AF8323C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A45F-1E0F-1D47-A293-093BAAD87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51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22B9D8-B84D-3E12-C2C3-99237157A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95A4B-E0B2-984D-AE4F-72FF04A7AC22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666860-9278-969C-074D-3E4F13104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8749B-12A4-E4B2-EB74-A04BD2606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A45F-1E0F-1D47-A293-093BAAD87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937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7ED39-41AE-88F3-8071-050DF26C1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C9A79-CB23-8FF7-89B2-9286DD436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8D2BF2-6D3F-5650-98AC-C6413823E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B43F5-CF8B-D1E4-C35E-525510ECC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95A4B-E0B2-984D-AE4F-72FF04A7AC22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33059-358C-93B3-27D3-71C254B4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6E873-D954-BD2E-3ECE-D1122CB2F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A45F-1E0F-1D47-A293-093BAAD87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4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E01BF-FF68-844B-D3B6-FFA78DE57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682946-13B1-1443-EAE3-129531477C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753FFF-5453-B4EF-68FB-1BC0BB4AB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94A50-495E-0F59-143F-3A1C43A7B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95A4B-E0B2-984D-AE4F-72FF04A7AC22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A5CA8-4DC3-9F78-837C-B51165702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C7163-11E7-9A58-E7DE-D411BFCED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A45F-1E0F-1D47-A293-093BAAD87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947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5500D-D076-5420-C492-05F7BEA75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EC7F7C-D9CD-01D4-1C72-7DCAB2B32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CA95E-BCA9-27F0-5BFB-320B0440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95A4B-E0B2-984D-AE4F-72FF04A7AC22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FB59F-E4FB-316F-C967-D44B43BFF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A39FF-E33F-945D-675C-2AE21483D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A45F-1E0F-1D47-A293-093BAAD87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31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CFC72E-C7FE-BFD4-FE08-07ADAFDAD2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A62D8A-8E7F-9070-15BC-57988FD2AE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7DDF0-3C26-6F71-B1E9-DDBBEFCC5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95A4B-E0B2-984D-AE4F-72FF04A7AC22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71A7A-CD04-A1C5-F53C-8BB34C491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B75B4-2095-74E7-DFFA-6DB2C43C5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BA45F-1E0F-1D47-A293-093BAAD87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79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DD4934-8883-2908-1CCA-53B0BF22D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1478E-6976-0662-3A08-051F3E5E3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989AC-485E-3E27-F7A8-DCF0A640EF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095A4B-E0B2-984D-AE4F-72FF04A7AC22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DFC50-019A-10C4-C093-4754A13A9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3DDED-08E5-F280-078E-B24A9A954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BBA45F-1E0F-1D47-A293-093BAAD871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14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A2716-6DAC-5CA6-094A-470BA1483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5DE6276-229D-4DD2-B36B-AA9200BDA778}"/>
              </a:ext>
            </a:extLst>
          </p:cNvPr>
          <p:cNvSpPr/>
          <p:nvPr/>
        </p:nvSpPr>
        <p:spPr>
          <a:xfrm>
            <a:off x="2884505" y="1208335"/>
            <a:ext cx="7726591" cy="4851418"/>
          </a:xfrm>
          <a:prstGeom prst="roundRect">
            <a:avLst>
              <a:gd name="adj" fmla="val 6074"/>
            </a:avLst>
          </a:prstGeom>
          <a:solidFill>
            <a:schemeClr val="tx1"/>
          </a:solidFill>
          <a:ln w="38100">
            <a:solidFill>
              <a:srgbClr val="36AE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749271-FD21-4A0E-132F-A9ABDBC8A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988" y="0"/>
            <a:ext cx="11060869" cy="1325563"/>
          </a:xfrm>
        </p:spPr>
        <p:txBody>
          <a:bodyPr>
            <a:normAutofit/>
          </a:bodyPr>
          <a:lstStyle/>
          <a:p>
            <a:r>
              <a:rPr lang="en-US" sz="4800" dirty="0"/>
              <a:t>Workflow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6157C1-C4B0-8A6E-16A7-07EF65901C61}"/>
              </a:ext>
            </a:extLst>
          </p:cNvPr>
          <p:cNvSpPr txBox="1"/>
          <p:nvPr/>
        </p:nvSpPr>
        <p:spPr>
          <a:xfrm>
            <a:off x="3130220" y="1279153"/>
            <a:ext cx="15905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ASSEMBLE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AEA2CE-12CF-248E-E8B8-628021000AC4}"/>
              </a:ext>
            </a:extLst>
          </p:cNvPr>
          <p:cNvSpPr txBox="1"/>
          <p:nvPr/>
        </p:nvSpPr>
        <p:spPr>
          <a:xfrm>
            <a:off x="5497565" y="1279153"/>
            <a:ext cx="15905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ANNOTATE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499EA-1463-0669-D50C-FA86F8025EDA}"/>
              </a:ext>
            </a:extLst>
          </p:cNvPr>
          <p:cNvSpPr txBox="1"/>
          <p:nvPr/>
        </p:nvSpPr>
        <p:spPr>
          <a:xfrm>
            <a:off x="7917049" y="1279153"/>
            <a:ext cx="15905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</a:rPr>
              <a:t>EXPORT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E7B37F-A4C0-187F-5EB1-901339060107}"/>
              </a:ext>
            </a:extLst>
          </p:cNvPr>
          <p:cNvSpPr txBox="1"/>
          <p:nvPr/>
        </p:nvSpPr>
        <p:spPr>
          <a:xfrm>
            <a:off x="3130220" y="1710497"/>
            <a:ext cx="23673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QC sequence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Assemble mitogenome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Map reads to assembly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BLAST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4CD5A4-FC3F-4F64-7DEA-A7F63F694574}"/>
              </a:ext>
            </a:extLst>
          </p:cNvPr>
          <p:cNvSpPr txBox="1"/>
          <p:nvPr/>
        </p:nvSpPr>
        <p:spPr>
          <a:xfrm>
            <a:off x="5497565" y="1710497"/>
            <a:ext cx="23673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Identify gene regions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Automatic and manual curation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Flag problematic samples/annotations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08AE61-226C-B7B4-C9BD-1028AF8563D2}"/>
              </a:ext>
            </a:extLst>
          </p:cNvPr>
          <p:cNvSpPr txBox="1"/>
          <p:nvPr/>
        </p:nvSpPr>
        <p:spPr>
          <a:xfrm>
            <a:off x="7917049" y="1710497"/>
            <a:ext cx="25242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Group samples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Create sequence FASTA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Generate GenBank submission files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3D66445-10C9-CFC4-E5D8-6A4C3D74FBB4}"/>
              </a:ext>
            </a:extLst>
          </p:cNvPr>
          <p:cNvGrpSpPr/>
          <p:nvPr/>
        </p:nvGrpSpPr>
        <p:grpSpPr>
          <a:xfrm>
            <a:off x="3181662" y="3244675"/>
            <a:ext cx="1750881" cy="1750881"/>
            <a:chOff x="3672543" y="1784203"/>
            <a:chExt cx="1750881" cy="1750881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63E440B-8A47-120D-2E8A-6B410D36384A}"/>
                </a:ext>
              </a:extLst>
            </p:cNvPr>
            <p:cNvSpPr/>
            <p:nvPr/>
          </p:nvSpPr>
          <p:spPr>
            <a:xfrm>
              <a:off x="3672543" y="1784203"/>
              <a:ext cx="1750881" cy="1750881"/>
            </a:xfrm>
            <a:prstGeom prst="ellipse">
              <a:avLst/>
            </a:prstGeom>
            <a:noFill/>
            <a:ln w="57150">
              <a:solidFill>
                <a:srgbClr val="36AEB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F331C22-F23C-1A72-D56D-2C00E28C04DF}"/>
                </a:ext>
              </a:extLst>
            </p:cNvPr>
            <p:cNvSpPr txBox="1"/>
            <p:nvPr/>
          </p:nvSpPr>
          <p:spPr>
            <a:xfrm>
              <a:off x="3812188" y="2336477"/>
              <a:ext cx="147158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circular mitogenome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D9FDF2F-A128-44C1-B38F-3452C322FF17}"/>
              </a:ext>
            </a:extLst>
          </p:cNvPr>
          <p:cNvGrpSpPr/>
          <p:nvPr/>
        </p:nvGrpSpPr>
        <p:grpSpPr>
          <a:xfrm>
            <a:off x="5707067" y="3216143"/>
            <a:ext cx="1750886" cy="1779413"/>
            <a:chOff x="6191966" y="1784203"/>
            <a:chExt cx="1750886" cy="1779413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2B5549A-C8CA-3527-A290-9286AA0554ED}"/>
                </a:ext>
              </a:extLst>
            </p:cNvPr>
            <p:cNvGrpSpPr/>
            <p:nvPr/>
          </p:nvGrpSpPr>
          <p:grpSpPr>
            <a:xfrm>
              <a:off x="6191966" y="1784203"/>
              <a:ext cx="1750886" cy="1779413"/>
              <a:chOff x="6191966" y="1784203"/>
              <a:chExt cx="1320313" cy="1341825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4F2B87E5-7759-2690-AA10-8AC0A1B96723}"/>
                  </a:ext>
                </a:extLst>
              </p:cNvPr>
              <p:cNvSpPr/>
              <p:nvPr/>
            </p:nvSpPr>
            <p:spPr>
              <a:xfrm>
                <a:off x="6191970" y="1805719"/>
                <a:ext cx="1320309" cy="1320309"/>
              </a:xfrm>
              <a:prstGeom prst="ellipse">
                <a:avLst/>
              </a:prstGeom>
              <a:noFill/>
              <a:ln w="57150">
                <a:solidFill>
                  <a:srgbClr val="36AEB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Arc 23">
                <a:extLst>
                  <a:ext uri="{FF2B5EF4-FFF2-40B4-BE49-F238E27FC236}">
                    <a16:creationId xmlns:a16="http://schemas.microsoft.com/office/drawing/2014/main" id="{8FF925EE-43FA-2BBF-B2D0-904B95B6D129}"/>
                  </a:ext>
                </a:extLst>
              </p:cNvPr>
              <p:cNvSpPr/>
              <p:nvPr/>
            </p:nvSpPr>
            <p:spPr>
              <a:xfrm>
                <a:off x="6191969" y="1794961"/>
                <a:ext cx="1320309" cy="1320309"/>
              </a:xfrm>
              <a:prstGeom prst="arc">
                <a:avLst>
                  <a:gd name="adj1" fmla="val 16200000"/>
                  <a:gd name="adj2" fmla="val 17655469"/>
                </a:avLst>
              </a:prstGeom>
              <a:ln w="127000">
                <a:solidFill>
                  <a:srgbClr val="014B5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1C20936D-95E2-5B27-667E-7A8922899116}"/>
                  </a:ext>
                </a:extLst>
              </p:cNvPr>
              <p:cNvSpPr/>
              <p:nvPr/>
            </p:nvSpPr>
            <p:spPr>
              <a:xfrm>
                <a:off x="6191969" y="1794961"/>
                <a:ext cx="1320309" cy="1320309"/>
              </a:xfrm>
              <a:prstGeom prst="arc">
                <a:avLst>
                  <a:gd name="adj1" fmla="val 18699117"/>
                  <a:gd name="adj2" fmla="val 493728"/>
                </a:avLst>
              </a:prstGeom>
              <a:ln w="127000">
                <a:solidFill>
                  <a:srgbClr val="014B5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E7CD8072-3CEB-03D8-B6CC-07D6B58325BE}"/>
                  </a:ext>
                </a:extLst>
              </p:cNvPr>
              <p:cNvSpPr/>
              <p:nvPr/>
            </p:nvSpPr>
            <p:spPr>
              <a:xfrm>
                <a:off x="6191968" y="1785899"/>
                <a:ext cx="1320309" cy="1320309"/>
              </a:xfrm>
              <a:prstGeom prst="arc">
                <a:avLst>
                  <a:gd name="adj1" fmla="val 1201208"/>
                  <a:gd name="adj2" fmla="val 6994806"/>
                </a:avLst>
              </a:prstGeom>
              <a:ln w="127000">
                <a:solidFill>
                  <a:srgbClr val="F7CF1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Arc 29">
                <a:extLst>
                  <a:ext uri="{FF2B5EF4-FFF2-40B4-BE49-F238E27FC236}">
                    <a16:creationId xmlns:a16="http://schemas.microsoft.com/office/drawing/2014/main" id="{010CD780-750A-F34D-CA46-275B4A3D6CEA}"/>
                  </a:ext>
                </a:extLst>
              </p:cNvPr>
              <p:cNvSpPr/>
              <p:nvPr/>
            </p:nvSpPr>
            <p:spPr>
              <a:xfrm>
                <a:off x="6191967" y="1784203"/>
                <a:ext cx="1320309" cy="1320309"/>
              </a:xfrm>
              <a:prstGeom prst="arc">
                <a:avLst>
                  <a:gd name="adj1" fmla="val 7649538"/>
                  <a:gd name="adj2" fmla="val 12682347"/>
                </a:avLst>
              </a:prstGeom>
              <a:ln w="127000">
                <a:solidFill>
                  <a:srgbClr val="014B5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Arc 30">
                <a:extLst>
                  <a:ext uri="{FF2B5EF4-FFF2-40B4-BE49-F238E27FC236}">
                    <a16:creationId xmlns:a16="http://schemas.microsoft.com/office/drawing/2014/main" id="{BF0AE3B0-CDC8-C8F3-7E3D-E5616BF242EF}"/>
                  </a:ext>
                </a:extLst>
              </p:cNvPr>
              <p:cNvSpPr/>
              <p:nvPr/>
            </p:nvSpPr>
            <p:spPr>
              <a:xfrm>
                <a:off x="6191966" y="1791278"/>
                <a:ext cx="1320309" cy="1320309"/>
              </a:xfrm>
              <a:prstGeom prst="arc">
                <a:avLst>
                  <a:gd name="adj1" fmla="val 13337302"/>
                  <a:gd name="adj2" fmla="val 15724368"/>
                </a:avLst>
              </a:prstGeom>
              <a:ln w="127000">
                <a:solidFill>
                  <a:srgbClr val="F7CF1A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0AFE2A4-DDCE-0873-EECA-F06FA6A9D774}"/>
                </a:ext>
              </a:extLst>
            </p:cNvPr>
            <p:cNvSpPr txBox="1"/>
            <p:nvPr/>
          </p:nvSpPr>
          <p:spPr>
            <a:xfrm>
              <a:off x="6482182" y="2474976"/>
              <a:ext cx="11704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genes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B136654-54E6-71A6-D309-31B65651C7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16584" y="1978325"/>
              <a:ext cx="194345" cy="508856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066716A3-4A54-2532-EED7-7E8529CD4D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81923" y="1922093"/>
              <a:ext cx="50777" cy="590047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BF5F332-4D03-7801-1C0F-EE96D5FC12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09985" y="2421852"/>
              <a:ext cx="363301" cy="149213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847A958-A3A9-B065-930A-04E41E1355A0}"/>
                </a:ext>
              </a:extLst>
            </p:cNvPr>
            <p:cNvCxnSpPr>
              <a:cxnSpLocks/>
            </p:cNvCxnSpPr>
            <p:nvPr/>
          </p:nvCxnSpPr>
          <p:spPr>
            <a:xfrm>
              <a:off x="7150053" y="2844308"/>
              <a:ext cx="187133" cy="528851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C3082643-7E7B-A40B-9C58-3F02854E6C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97020" y="2716078"/>
              <a:ext cx="419564" cy="111644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30" name="Picture 6" descr="NCBI BLAST - Desktop App for Mac, Windows (PC) - WebCatalog">
            <a:extLst>
              <a:ext uri="{FF2B5EF4-FFF2-40B4-BE49-F238E27FC236}">
                <a16:creationId xmlns:a16="http://schemas.microsoft.com/office/drawing/2014/main" id="{859CD2C1-9F4F-DEB9-282B-B1F4F41B6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7977" y="3105953"/>
            <a:ext cx="1056182" cy="1056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Right Arrow 1026">
            <a:extLst>
              <a:ext uri="{FF2B5EF4-FFF2-40B4-BE49-F238E27FC236}">
                <a16:creationId xmlns:a16="http://schemas.microsoft.com/office/drawing/2014/main" id="{D84055F8-FA1C-4E88-94CB-A16350965A62}"/>
              </a:ext>
            </a:extLst>
          </p:cNvPr>
          <p:cNvSpPr/>
          <p:nvPr/>
        </p:nvSpPr>
        <p:spPr>
          <a:xfrm>
            <a:off x="5096360" y="3982917"/>
            <a:ext cx="422882" cy="264844"/>
          </a:xfrm>
          <a:prstGeom prst="rightArrow">
            <a:avLst/>
          </a:prstGeom>
          <a:solidFill>
            <a:srgbClr val="36AEB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8" name="Right Arrow 1027">
            <a:extLst>
              <a:ext uri="{FF2B5EF4-FFF2-40B4-BE49-F238E27FC236}">
                <a16:creationId xmlns:a16="http://schemas.microsoft.com/office/drawing/2014/main" id="{DF221E1E-40D7-1B93-268B-74D629390573}"/>
              </a:ext>
            </a:extLst>
          </p:cNvPr>
          <p:cNvSpPr/>
          <p:nvPr/>
        </p:nvSpPr>
        <p:spPr>
          <a:xfrm>
            <a:off x="7732703" y="3994818"/>
            <a:ext cx="422882" cy="264844"/>
          </a:xfrm>
          <a:prstGeom prst="rightArrow">
            <a:avLst/>
          </a:prstGeom>
          <a:solidFill>
            <a:srgbClr val="36AEB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D31F5C5B-3EE8-A37E-810E-EB4295B30AB3}"/>
              </a:ext>
            </a:extLst>
          </p:cNvPr>
          <p:cNvSpPr txBox="1"/>
          <p:nvPr/>
        </p:nvSpPr>
        <p:spPr>
          <a:xfrm>
            <a:off x="8396328" y="3271947"/>
            <a:ext cx="1822334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&gt;Sample1</a:t>
            </a:r>
          </a:p>
          <a:p>
            <a:r>
              <a:rPr lang="en-US" sz="1600" dirty="0"/>
              <a:t>ATCCTTTACTGACTGACCCCCTTATCG</a:t>
            </a:r>
          </a:p>
        </p:txBody>
      </p:sp>
      <p:sp>
        <p:nvSpPr>
          <p:cNvPr id="1031" name="TextBox 1030">
            <a:extLst>
              <a:ext uri="{FF2B5EF4-FFF2-40B4-BE49-F238E27FC236}">
                <a16:creationId xmlns:a16="http://schemas.microsoft.com/office/drawing/2014/main" id="{2113FACF-E91A-8D87-3D90-D9D03CB0AECC}"/>
              </a:ext>
            </a:extLst>
          </p:cNvPr>
          <p:cNvSpPr txBox="1"/>
          <p:nvPr/>
        </p:nvSpPr>
        <p:spPr>
          <a:xfrm>
            <a:off x="8283890" y="5158082"/>
            <a:ext cx="204721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&gt;Feature Sample1</a:t>
            </a:r>
          </a:p>
          <a:p>
            <a:r>
              <a:rPr lang="en-US" sz="1200" dirty="0"/>
              <a:t>2729  3709  gene</a:t>
            </a:r>
          </a:p>
          <a:p>
            <a:r>
              <a:rPr lang="en-US" sz="1200" dirty="0"/>
              <a:t>                                    gene  nad1</a:t>
            </a:r>
          </a:p>
        </p:txBody>
      </p:sp>
      <p:sp>
        <p:nvSpPr>
          <p:cNvPr id="1036" name="Right Arrow 1035">
            <a:extLst>
              <a:ext uri="{FF2B5EF4-FFF2-40B4-BE49-F238E27FC236}">
                <a16:creationId xmlns:a16="http://schemas.microsoft.com/office/drawing/2014/main" id="{4E833465-7D7B-9609-ED34-64B72349B4BE}"/>
              </a:ext>
            </a:extLst>
          </p:cNvPr>
          <p:cNvSpPr/>
          <p:nvPr/>
        </p:nvSpPr>
        <p:spPr>
          <a:xfrm>
            <a:off x="10684428" y="3501622"/>
            <a:ext cx="422882" cy="264844"/>
          </a:xfrm>
          <a:prstGeom prst="rightArrow">
            <a:avLst/>
          </a:prstGeom>
          <a:solidFill>
            <a:srgbClr val="36AE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TextBox 1036">
            <a:extLst>
              <a:ext uri="{FF2B5EF4-FFF2-40B4-BE49-F238E27FC236}">
                <a16:creationId xmlns:a16="http://schemas.microsoft.com/office/drawing/2014/main" id="{97F3EA12-5D44-73F5-54D5-FF92E735A910}"/>
              </a:ext>
            </a:extLst>
          </p:cNvPr>
          <p:cNvSpPr txBox="1"/>
          <p:nvPr/>
        </p:nvSpPr>
        <p:spPr>
          <a:xfrm>
            <a:off x="10611096" y="2413921"/>
            <a:ext cx="15163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/>
              <a:t>Submit to GenBank</a:t>
            </a:r>
          </a:p>
        </p:txBody>
      </p:sp>
      <p:sp>
        <p:nvSpPr>
          <p:cNvPr id="1038" name="TextBox 1037">
            <a:extLst>
              <a:ext uri="{FF2B5EF4-FFF2-40B4-BE49-F238E27FC236}">
                <a16:creationId xmlns:a16="http://schemas.microsoft.com/office/drawing/2014/main" id="{E8C733A9-3634-A1C5-C1F6-C3A07E6B6266}"/>
              </a:ext>
            </a:extLst>
          </p:cNvPr>
          <p:cNvSpPr txBox="1"/>
          <p:nvPr/>
        </p:nvSpPr>
        <p:spPr>
          <a:xfrm>
            <a:off x="8396328" y="4215015"/>
            <a:ext cx="1822334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&gt; Sample1 NAD1</a:t>
            </a:r>
          </a:p>
          <a:p>
            <a:r>
              <a:rPr lang="en-US" sz="1600" dirty="0"/>
              <a:t>ATGACTTCTAATCTCCTTACTCACCTA</a:t>
            </a:r>
          </a:p>
        </p:txBody>
      </p:sp>
      <p:pic>
        <p:nvPicPr>
          <p:cNvPr id="1042" name="Picture 1041" descr="A hexagon with a dna strand and text&#10;&#10;AI-generated content may be incorrect.">
            <a:extLst>
              <a:ext uri="{FF2B5EF4-FFF2-40B4-BE49-F238E27FC236}">
                <a16:creationId xmlns:a16="http://schemas.microsoft.com/office/drawing/2014/main" id="{0A1B670D-EB1F-83EA-44D5-081E24D8D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6578" y="512859"/>
            <a:ext cx="1408992" cy="15325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2E7EE9-DDE3-D34F-9E21-DD2DCD51A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265" y="1761242"/>
            <a:ext cx="1203900" cy="11382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B31AF9-1101-814D-AE40-7D5335E7E0F9}"/>
              </a:ext>
            </a:extLst>
          </p:cNvPr>
          <p:cNvSpPr txBox="1"/>
          <p:nvPr/>
        </p:nvSpPr>
        <p:spPr>
          <a:xfrm>
            <a:off x="858988" y="1087603"/>
            <a:ext cx="1882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DNA sequence data (Illumina)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87F8C0-E6EA-27FC-970A-13D761373B47}"/>
              </a:ext>
            </a:extLst>
          </p:cNvPr>
          <p:cNvSpPr txBox="1"/>
          <p:nvPr/>
        </p:nvSpPr>
        <p:spPr>
          <a:xfrm>
            <a:off x="754540" y="4718453"/>
            <a:ext cx="2091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Sample metadata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1330F7B5-DAEE-70FE-7C91-8A9CAF4A96FB}"/>
              </a:ext>
            </a:extLst>
          </p:cNvPr>
          <p:cNvSpPr/>
          <p:nvPr/>
        </p:nvSpPr>
        <p:spPr>
          <a:xfrm>
            <a:off x="2388291" y="2197936"/>
            <a:ext cx="422882" cy="264844"/>
          </a:xfrm>
          <a:prstGeom prst="rightArrow">
            <a:avLst/>
          </a:prstGeom>
          <a:solidFill>
            <a:srgbClr val="36AE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B4264910-70B6-A7D2-677C-86B18E087DF1}"/>
              </a:ext>
            </a:extLst>
          </p:cNvPr>
          <p:cNvSpPr/>
          <p:nvPr/>
        </p:nvSpPr>
        <p:spPr>
          <a:xfrm>
            <a:off x="2388291" y="5508943"/>
            <a:ext cx="422882" cy="264844"/>
          </a:xfrm>
          <a:prstGeom prst="rightArrow">
            <a:avLst/>
          </a:prstGeom>
          <a:solidFill>
            <a:srgbClr val="36AE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D76142-8386-FF73-E467-42DEDE6745AD}"/>
              </a:ext>
            </a:extLst>
          </p:cNvPr>
          <p:cNvSpPr txBox="1"/>
          <p:nvPr/>
        </p:nvSpPr>
        <p:spPr>
          <a:xfrm>
            <a:off x="858988" y="2994802"/>
            <a:ext cx="18824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User-generated mitogenomes (optional)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8167D31A-EE8E-220A-0FA1-CFE2122BE762}"/>
              </a:ext>
            </a:extLst>
          </p:cNvPr>
          <p:cNvSpPr/>
          <p:nvPr/>
        </p:nvSpPr>
        <p:spPr>
          <a:xfrm>
            <a:off x="2388291" y="3959599"/>
            <a:ext cx="422882" cy="264844"/>
          </a:xfrm>
          <a:prstGeom prst="rightArrow">
            <a:avLst/>
          </a:prstGeom>
          <a:solidFill>
            <a:srgbClr val="36AEB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E72E76A-A348-786C-6C0C-CE80D9B6CB72}"/>
              </a:ext>
            </a:extLst>
          </p:cNvPr>
          <p:cNvSpPr/>
          <p:nvPr/>
        </p:nvSpPr>
        <p:spPr>
          <a:xfrm>
            <a:off x="970794" y="3959599"/>
            <a:ext cx="359458" cy="359458"/>
          </a:xfrm>
          <a:prstGeom prst="ellipse">
            <a:avLst/>
          </a:prstGeom>
          <a:noFill/>
          <a:ln w="57150">
            <a:solidFill>
              <a:srgbClr val="36AE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45C388D-D92A-9C79-2A97-F0AFBAB97F02}"/>
              </a:ext>
            </a:extLst>
          </p:cNvPr>
          <p:cNvSpPr/>
          <p:nvPr/>
        </p:nvSpPr>
        <p:spPr>
          <a:xfrm>
            <a:off x="1429515" y="4247141"/>
            <a:ext cx="359458" cy="359458"/>
          </a:xfrm>
          <a:prstGeom prst="ellipse">
            <a:avLst/>
          </a:prstGeom>
          <a:noFill/>
          <a:ln w="57150">
            <a:solidFill>
              <a:srgbClr val="014B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7754061-DCF9-1E73-9C50-BAAA76299A09}"/>
              </a:ext>
            </a:extLst>
          </p:cNvPr>
          <p:cNvSpPr/>
          <p:nvPr/>
        </p:nvSpPr>
        <p:spPr>
          <a:xfrm>
            <a:off x="1871410" y="3950047"/>
            <a:ext cx="359458" cy="359458"/>
          </a:xfrm>
          <a:prstGeom prst="ellipse">
            <a:avLst/>
          </a:prstGeom>
          <a:noFill/>
          <a:ln w="57150">
            <a:solidFill>
              <a:srgbClr val="F7CF1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CAC3E9-4AA6-80C5-CD05-998CC76B50BF}"/>
              </a:ext>
            </a:extLst>
          </p:cNvPr>
          <p:cNvSpPr txBox="1"/>
          <p:nvPr/>
        </p:nvSpPr>
        <p:spPr>
          <a:xfrm>
            <a:off x="3041928" y="5286459"/>
            <a:ext cx="21814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fastp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GetOrganelle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MitoFinder</a:t>
            </a:r>
            <a:r>
              <a:rPr lang="en-US" sz="1600" dirty="0">
                <a:solidFill>
                  <a:schemeClr val="bg1"/>
                </a:solidFill>
              </a:rPr>
              <a:t>, bowtie2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6005C9-1E04-9891-AFC9-C8DA505E5EA3}"/>
              </a:ext>
            </a:extLst>
          </p:cNvPr>
          <p:cNvSpPr txBox="1"/>
          <p:nvPr/>
        </p:nvSpPr>
        <p:spPr>
          <a:xfrm>
            <a:off x="5448800" y="5196221"/>
            <a:ext cx="23039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MITOS2, </a:t>
            </a:r>
            <a:r>
              <a:rPr lang="en-US" sz="1600" dirty="0" err="1">
                <a:solidFill>
                  <a:schemeClr val="bg1"/>
                </a:solidFill>
              </a:rPr>
              <a:t>tRNAscan</a:t>
            </a:r>
            <a:r>
              <a:rPr lang="en-US" sz="1600" dirty="0">
                <a:solidFill>
                  <a:schemeClr val="bg1"/>
                </a:solidFill>
              </a:rPr>
              <a:t>-SE, </a:t>
            </a:r>
            <a:r>
              <a:rPr lang="en-US" sz="1600" dirty="0" err="1">
                <a:solidFill>
                  <a:schemeClr val="bg1"/>
                </a:solidFill>
              </a:rPr>
              <a:t>MitoFinder</a:t>
            </a:r>
            <a:r>
              <a:rPr lang="en-US" sz="1600" dirty="0">
                <a:solidFill>
                  <a:schemeClr val="bg1"/>
                </a:solidFill>
              </a:rPr>
              <a:t>, ARWEN, ARAGORN, </a:t>
            </a:r>
            <a:r>
              <a:rPr lang="en-US" sz="1600" dirty="0" err="1">
                <a:solidFill>
                  <a:schemeClr val="bg1"/>
                </a:solidFill>
              </a:rPr>
              <a:t>ORFfinder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34" name="Picture 33" descr="GBIF logo [IMAGE] | EurekAlert! Science News Releases">
            <a:extLst>
              <a:ext uri="{FF2B5EF4-FFF2-40B4-BE49-F238E27FC236}">
                <a16:creationId xmlns:a16="http://schemas.microsoft.com/office/drawing/2014/main" id="{0DB84CA3-7353-2D61-8C4E-D947833DD7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523" y="5007480"/>
            <a:ext cx="964288" cy="482144"/>
          </a:xfrm>
          <a:prstGeom prst="rect">
            <a:avLst/>
          </a:prstGeom>
        </p:spPr>
      </p:pic>
      <p:pic>
        <p:nvPicPr>
          <p:cNvPr id="35" name="Picture 34" descr="Design logo for geome| concursos de | 99designs">
            <a:extLst>
              <a:ext uri="{FF2B5EF4-FFF2-40B4-BE49-F238E27FC236}">
                <a16:creationId xmlns:a16="http://schemas.microsoft.com/office/drawing/2014/main" id="{51996373-8BB1-6E67-E418-40E0B02F707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9288" t="36845" r="19713" b="34594"/>
          <a:stretch>
            <a:fillRect/>
          </a:stretch>
        </p:blipFill>
        <p:spPr>
          <a:xfrm>
            <a:off x="1608285" y="5751952"/>
            <a:ext cx="788798" cy="369332"/>
          </a:xfrm>
          <a:prstGeom prst="rect">
            <a:avLst/>
          </a:prstGeom>
        </p:spPr>
      </p:pic>
      <p:pic>
        <p:nvPicPr>
          <p:cNvPr id="14" name="Picture 6" descr="NCBI BLAST - Desktop App for Mac, Windows (PC) - WebCatalog">
            <a:extLst>
              <a:ext uri="{FF2B5EF4-FFF2-40B4-BE49-F238E27FC236}">
                <a16:creationId xmlns:a16="http://schemas.microsoft.com/office/drawing/2014/main" id="{7194E7EB-C037-BE78-4D91-22AF47629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352" y="5496733"/>
            <a:ext cx="658992" cy="65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Spreadsheet document symbol | Free SVG">
            <a:extLst>
              <a:ext uri="{FF2B5EF4-FFF2-40B4-BE49-F238E27FC236}">
                <a16:creationId xmlns:a16="http://schemas.microsoft.com/office/drawing/2014/main" id="{89D67121-A8B0-9A58-DD50-E83C92F2F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506" y="5041569"/>
            <a:ext cx="730702" cy="730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1244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90</Words>
  <Application>Microsoft Macintosh PowerPoint</Application>
  <PresentationFormat>Widescreen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Workflow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MacGuigan, Daniel</dc:creator>
  <cp:lastModifiedBy>MacGuigan, Daniel</cp:lastModifiedBy>
  <cp:revision>4</cp:revision>
  <dcterms:created xsi:type="dcterms:W3CDTF">2026-06-12T15:27:11Z</dcterms:created>
  <dcterms:modified xsi:type="dcterms:W3CDTF">2026-09-29T15:33:25Z</dcterms:modified>
</cp:coreProperties>
</file>